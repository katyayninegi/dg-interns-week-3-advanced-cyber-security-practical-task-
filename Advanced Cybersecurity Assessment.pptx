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13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1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28.png"/><Relationship Id="rId5" Type="http://schemas.openxmlformats.org/officeDocument/2006/relationships/image" Target="../media/image13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1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128" y="1618357"/>
            <a:ext cx="3461593" cy="33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090" y="4315717"/>
            <a:ext cx="8747670" cy="923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00398" y="2161282"/>
            <a:ext cx="7191055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b="0" sz="4050" i="0" u="none">
                <a:solidFill>
                  <a:srgbClr val="FFFFFF"/>
                </a:solidFill>
                <a:latin typeface="Plus Jakarta Sans ExtraBold"/>
              </a:rPr>
              <a:t>Advanced Network Security</a:t>
            </a:r>
            <a:r>
              <a:t>
</a:t>
            </a:r>
            <a:r>
              <a:rPr b="0" sz="4050" i="0" u="none">
                <a:solidFill>
                  <a:srgbClr val="FFFFFF"/>
                </a:solidFill>
                <a:latin typeface="Plus Jakarta Sans ExtraBold"/>
              </a:rPr>
              <a:t>Assessment &amp; Forensics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0750" y="3515617"/>
            <a:ext cx="7810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A hands-on practical investigation of network discovery, deep packet inspection, TCP flag correlation, vulnerability assessment, and defense-in-depth hardening.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153" y="1723132"/>
            <a:ext cx="133796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22090" y="4553842"/>
            <a:ext cx="133781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Intern Role</a:t>
            </a:r>
            <a:r>
              <a:rPr b="0" sz="1200" i="0" u="none">
                <a:solidFill>
                  <a:srgbClr val="F1F5F9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CBD5E1"/>
                </a:solidFill>
                <a:latin typeface="Inter SemiBold"/>
              </a:rPr>
              <a:t>Cybersecurity Intern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0906" y="4553842"/>
            <a:ext cx="2657623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Evaluation Scope</a:t>
            </a:r>
            <a:r>
              <a:rPr b="0" sz="1200" i="0" u="none">
                <a:solidFill>
                  <a:srgbClr val="F1F5F9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CBD5E1"/>
                </a:solidFill>
                <a:latin typeface="Inter SemiBold"/>
              </a:rPr>
              <a:t>Authorized Virtual Lab (192.168.56.0/24)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530" y="4553842"/>
            <a:ext cx="222661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Core Tooling</a:t>
            </a:r>
            <a:r>
              <a:rPr b="0" sz="1200" i="0" u="none">
                <a:solidFill>
                  <a:srgbClr val="F1F5F9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CBD5E1"/>
                </a:solidFill>
                <a:latin typeface="Inter SemiBold"/>
              </a:rPr>
              <a:t>Nmap 7.94 • Wireshark 4.2 • UFW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7147" y="4553842"/>
            <a:ext cx="1382613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Submission Deadline</a:t>
            </a:r>
            <a:r>
              <a:rPr b="0" sz="1200" i="0" u="none">
                <a:solidFill>
                  <a:srgbClr val="F1F5F9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CBD5E1"/>
                </a:solidFill>
                <a:latin typeface="Inter SemiBold"/>
              </a:rPr>
              <a:t>21st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123950"/>
            <a:ext cx="5314950" cy="5248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123950"/>
            <a:ext cx="5314950" cy="5248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2480" y="2486025"/>
            <a:ext cx="4554631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75" i="0" u="none">
                <a:solidFill>
                  <a:srgbClr val="38BDF8"/>
                </a:solidFill>
                <a:latin typeface="Plus Jakarta Sans"/>
              </a:rPr>
              <a:t>Operational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9855" y="2486025"/>
            <a:ext cx="4504625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75" i="0" u="none">
                <a:solidFill>
                  <a:srgbClr val="38BDF8"/>
                </a:solidFill>
                <a:latin typeface="Plus Jakarta Sans"/>
              </a:rPr>
              <a:t>Scope &amp; Compliance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514600"/>
            <a:ext cx="196155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71575" y="2895600"/>
            <a:ext cx="4438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Conduct host discovery &amp; service mapping across the 192.168.56.0/24 subnet.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1575" y="3424237"/>
            <a:ext cx="4438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Execute TCP SYN stealth scanning, UDP surface scans, and NSE vulnerability audits.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575" y="3952875"/>
            <a:ext cx="4438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Perform deep-packet inspection using Wireshark across Layer 2-7 core protocols.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1575" y="4481512"/>
            <a:ext cx="4438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Correlate Nmap scanner state decisions directly with raw wire TCP flags.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514600"/>
            <a:ext cx="24378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91325" y="2895600"/>
            <a:ext cx="4438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Strict adherence to ethical guidelines: isolated VirtualBox Host-Only sandbox (vboxnet0).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3424237"/>
            <a:ext cx="4438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Zero packet leakage into corporate uplinks, physical gateways, or external ranges.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25" y="3952875"/>
            <a:ext cx="4438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Systematic vulnerability documentation mapped to CVSS v3.1 and MITRE ATT&amp;CK.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4481512"/>
            <a:ext cx="4438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Execution of stateful host firewall hardening with quantifiable attack surface reduction.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2895600"/>
            <a:ext cx="57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3424237"/>
            <a:ext cx="57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3952875"/>
            <a:ext cx="57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4481512"/>
            <a:ext cx="57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2895600"/>
            <a:ext cx="57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3424237"/>
            <a:ext cx="57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3952875"/>
            <a:ext cx="57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4481512"/>
            <a:ext cx="57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" y="485775"/>
            <a:ext cx="1148143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Assessment Objectives &amp; Scope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650" y="895350"/>
            <a:ext cx="47625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085975"/>
            <a:ext cx="5580608" cy="828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028950"/>
            <a:ext cx="5580608" cy="828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971925"/>
            <a:ext cx="5580608" cy="6619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4748212"/>
            <a:ext cx="5580608" cy="6619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4058" y="1123950"/>
            <a:ext cx="5049142" cy="419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2209800"/>
            <a:ext cx="5489592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Node 1: Kali Linux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457450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Security Auditor Console • Tools: Nmap 7.94, Wireshark 4.2.3, Scapy • MAC: 08:00:27:A4:81:12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152775"/>
            <a:ext cx="5489592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Node 2: Ubuntu Server 24.04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400425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Enterprise Target Node • Initial Services: FTP (21), SSH (22), Apache (80), RPC (111), SMB (445)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4095750"/>
            <a:ext cx="5489592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Node 3: Windows / Metasploit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4343400"/>
            <a:ext cx="5228183" cy="166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Legacy Workstation • Services: SMBv1/v2, NetBIOS, RDP • MAC: 08:00:27:F9:11:4E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4872037"/>
            <a:ext cx="5489592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Virtual Gateway / Switch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5119687"/>
            <a:ext cx="5228183" cy="166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VirtualBox Host Adapter Bridge • Isolated Broadcast Domain • Mask: 255.255.255.0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8833" y="1228725"/>
            <a:ext cx="4839592" cy="398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029" y="2209800"/>
            <a:ext cx="1047303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0029" y="3152775"/>
            <a:ext cx="1047303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029" y="4095750"/>
            <a:ext cx="1047303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27873" y="4872037"/>
            <a:ext cx="91946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8650" y="485775"/>
            <a:ext cx="1148143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Authorized Lab Architecture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650" y="895350"/>
            <a:ext cx="47625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123950"/>
            <a:ext cx="3505200" cy="5248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123950"/>
            <a:ext cx="3505200" cy="5248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8150" y="1123950"/>
            <a:ext cx="3505200" cy="5248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1400175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009775"/>
            <a:ext cx="1277034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Nmap 7.94SVN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324100"/>
            <a:ext cx="30670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Raw packet generator and port auditing engine. Leveraged for ARP ping sweeps (-sn), TCP SYN half-open probing (-sS), service banner discovery (-sV), and NSE vulnerability scripts.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475" y="1400175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2475" y="2009775"/>
            <a:ext cx="133626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Wireshark 4.2.3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475" y="2324100"/>
            <a:ext cx="3067050" cy="964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High-fidelity protocol analyzer utilizing Npcap/libpcap drivers. Applied with promiscuous capture to dissect ARP, ICMP, DNS, TCP handshakes, and application layer HTTP payloads.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7225" y="1400175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7225" y="2009775"/>
            <a:ext cx="178194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UFW &amp; Defense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7225" y="2324100"/>
            <a:ext cx="30670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Ubuntu Uncomplicated Firewall configured for default-deny inbound filtering. Combined with OpenSSH 9.6p1 cryptographic hardening and service daemon decommissioning.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7725" y="1524000"/>
            <a:ext cx="26670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1050" y="1524000"/>
            <a:ext cx="20955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8650" y="485775"/>
            <a:ext cx="1148143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Auditing Software Ecosystem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650" y="895350"/>
            <a:ext cx="47625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919287"/>
            <a:ext cx="5580608" cy="828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862262"/>
            <a:ext cx="5580608" cy="828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805237"/>
            <a:ext cx="5580608" cy="828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4748212"/>
            <a:ext cx="5580608" cy="828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058" y="1123950"/>
            <a:ext cx="5049142" cy="419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2043112"/>
            <a:ext cx="5489592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FTP &amp; RPC Daemons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290762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vsftpd 3.0.5 running cleartext auth with anonymous upload. RPCbind v2-4 leaking internal program mappings.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986087"/>
            <a:ext cx="5489592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Web &amp; Remote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233737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Apache 2.4.58 running over unencrypted HTTP. OpenSSH 9.6p1 permitting root interactive password logins.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929062"/>
            <a:ext cx="5489592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SMB &amp; NetBIOS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4176712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Samba smbd 4.19.5 accessible across subnet; permits unauthenticated NULL/Guest sessions and RID cycling.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4872037"/>
            <a:ext cx="5489592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Operating System Fingerprint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5119687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TCP/IP stack analysis confirmed standard Linux kernel; latency 0.0017s across the VirtualBox virtual adapter.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8833" y="1228725"/>
            <a:ext cx="4839592" cy="398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029" y="2043112"/>
            <a:ext cx="1047303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4025" y="2986087"/>
            <a:ext cx="983307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6182" y="3929062"/>
            <a:ext cx="111115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8339" y="4872037"/>
            <a:ext cx="1238994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8650" y="485775"/>
            <a:ext cx="1148143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Nmap Reconnaissance &amp;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650" y="895350"/>
            <a:ext cx="47625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919287"/>
            <a:ext cx="5580608" cy="828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862262"/>
            <a:ext cx="5580608" cy="828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805237"/>
            <a:ext cx="5580608" cy="828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748212"/>
            <a:ext cx="5580608" cy="828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058" y="1123950"/>
            <a:ext cx="5049142" cy="419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2043112"/>
            <a:ext cx="5489592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ARP Broadcasts (#104-105)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290762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Broadcast resolution to ff:ff:ff:ff:ff:ff ("Who has 192.168.56.102?"). Reveals unauthenticated L2 mapping vulnerable to ARP poisoning.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986087"/>
            <a:ext cx="5489592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TCP 3-Way Handshake (#452-454)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233737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RFC 793 handshake: [SYN] (ISN=0) → [SYN, ACK] → [ACK]. Validates successful transmission channel before application payload transfer.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929062"/>
            <a:ext cx="5489592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Cleartext HTTP GET (#455)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4176712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Unencrypted layer-7 HTTP transmission exposing User-Agent headers, URI parameters, and sensitive session tokens in plaintext.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4872037"/>
            <a:ext cx="5489592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DNS Queries &amp; ICMP Echo (#218-340)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5119687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Standard UDP 53 resolution and ICMP Echo ping verification (Type 8/0) confirming host responsiveness.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8833" y="1228725"/>
            <a:ext cx="4839592" cy="398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7407" y="2043112"/>
            <a:ext cx="599926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9712" y="2986087"/>
            <a:ext cx="72762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1869" y="3929062"/>
            <a:ext cx="855464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1869" y="4872037"/>
            <a:ext cx="855464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8650" y="485775"/>
            <a:ext cx="1148143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Wireshark Packet Dissection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650" y="895350"/>
            <a:ext cx="47625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947862"/>
            <a:ext cx="5580608" cy="809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871787"/>
            <a:ext cx="5580608" cy="809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795712"/>
            <a:ext cx="5580608" cy="809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4719637"/>
            <a:ext cx="5580608" cy="828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058" y="1123950"/>
            <a:ext cx="5049142" cy="419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2071687"/>
            <a:ext cx="5489592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Open Port 80: SYN → SYN/ACK → 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300287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Server returns [SYN, ACK] (0x012). Nmap immediately transmits [RST] (0x004) to terminate connection before OS logging.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995612"/>
            <a:ext cx="5489592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Closed Port 9999: SYN → RST/ACK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224212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Host kernel receives probe for inactive socket; immediately returns [RST, ACK] (0x014) actively rejecting the socket.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919537"/>
            <a:ext cx="5489592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Filtered Port 8080: SYN → Retransmit / 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4148137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Stateful firewall (UFW/iptables) silently drops probe. Scanner receives no response and classifies port as Filtered.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4843462"/>
            <a:ext cx="5489592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Wireshark Filter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5091112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Isolates half-open scans on wire: rapid burst of high-frequency SYN packets across ports followed by immediate RST resets.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8833" y="1228725"/>
            <a:ext cx="4839592" cy="398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9246" y="2071687"/>
            <a:ext cx="408086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1403" y="2995612"/>
            <a:ext cx="53593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3559" y="3919537"/>
            <a:ext cx="663773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2186" y="4843462"/>
            <a:ext cx="1175146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8650" y="485775"/>
            <a:ext cx="1148143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Scanner Packet Correlation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650" y="895350"/>
            <a:ext cx="47625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8650" y="2028973"/>
            <a:ext cx="10934700" cy="3438227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8650" y="2028973"/>
          <a:ext cx="10915648" cy="3438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664071"/>
                <a:gridCol w="1974949"/>
                <a:gridCol w="868263"/>
                <a:gridCol w="880616"/>
                <a:gridCol w="3170336"/>
                <a:gridCol w="3357413"/>
              </a:tblGrid>
              <a:tr h="573037"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Finding &amp; Protocol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Risk Tier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CVSS v3.1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Exploitation Vector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Remediation Mandate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73037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V-01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Anonymous FTP Enabled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7.5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Cleartext credential sniffing &amp; unauthenticated file staging.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Decommission vsftpd; migrate file transfers to SFTP (Port 22).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3037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V-02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Root SSH Password Login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7.4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Automated brute-force attacks and credential spraying.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Enforce Ed25519 key authentication; set PermitRootLogin no.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73037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V-03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Permissive Samba Null 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7.1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Anonymous IPC$ binding, RID cycling, and user enumeration.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Enforce SMB signing; restrict NetBIOS/SMB to local management.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3037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V-04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Unencrypted HTTP &amp; Banner Leak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5.3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MitM session eavesdropping; OS/Apache banner scraping.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Deploy TLS 1.3 certificates; set ServerTokens Prod.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73042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V-05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Exposed Legacy RPC Portmap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5.0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NFS program disclosure, buffer overflow amplification.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Inter"/>
                        </a:rPr>
                        <a:t>Disable rpcbind.service and rpcbind.socket via systemctl.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38175" y="2571898"/>
            <a:ext cx="66407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02246" y="2571898"/>
            <a:ext cx="19749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77195" y="2571898"/>
            <a:ext cx="86826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45458" y="2571898"/>
            <a:ext cx="8806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6074" y="2571898"/>
            <a:ext cx="31703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6411" y="2571898"/>
            <a:ext cx="335741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175" y="3149054"/>
            <a:ext cx="66407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02246" y="3149054"/>
            <a:ext cx="197494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7195" y="3149054"/>
            <a:ext cx="86826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45458" y="3149054"/>
            <a:ext cx="88061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6074" y="3149054"/>
            <a:ext cx="317033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6411" y="3149054"/>
            <a:ext cx="335741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175" y="3726209"/>
            <a:ext cx="66407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02246" y="3726209"/>
            <a:ext cx="197494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77195" y="3726209"/>
            <a:ext cx="86826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45458" y="3726209"/>
            <a:ext cx="88061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6074" y="3726209"/>
            <a:ext cx="317033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96411" y="3726209"/>
            <a:ext cx="335741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8175" y="4303365"/>
            <a:ext cx="66407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02246" y="4303365"/>
            <a:ext cx="197494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77195" y="4303365"/>
            <a:ext cx="86826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45458" y="4303365"/>
            <a:ext cx="88061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6074" y="4303365"/>
            <a:ext cx="317033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96411" y="4303365"/>
            <a:ext cx="335741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8175" y="4880520"/>
            <a:ext cx="66407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02246" y="4880520"/>
            <a:ext cx="197494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7195" y="4880520"/>
            <a:ext cx="86826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45458" y="4880520"/>
            <a:ext cx="88061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6074" y="4880520"/>
            <a:ext cx="317033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96411" y="4880520"/>
            <a:ext cx="335741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2676673"/>
            <a:ext cx="209550" cy="38859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595" y="2763291"/>
            <a:ext cx="419100" cy="20374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3253829"/>
            <a:ext cx="209550" cy="38859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595" y="3340447"/>
            <a:ext cx="419100" cy="20374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3830984"/>
            <a:ext cx="209550" cy="38859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595" y="3917602"/>
            <a:ext cx="419100" cy="20374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4408140"/>
            <a:ext cx="209550" cy="38859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595" y="4494758"/>
            <a:ext cx="552450" cy="20374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4985295"/>
            <a:ext cx="209550" cy="38859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595" y="5071913"/>
            <a:ext cx="552450" cy="20374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28650" y="485775"/>
            <a:ext cx="1148143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Vulnerability Registry &amp; CVSS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8650" y="895350"/>
            <a:ext cx="47625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957387"/>
            <a:ext cx="5580608" cy="809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881312"/>
            <a:ext cx="5580608" cy="809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805237"/>
            <a:ext cx="5580608" cy="809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729162"/>
            <a:ext cx="5580608" cy="809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058" y="1123950"/>
            <a:ext cx="5049142" cy="419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2081212"/>
            <a:ext cx="5489592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Port 21 (FTP): Open → Filtered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309812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vsftpd daemon disabled and masked; inbound port blocked in UFW. Cleartext interception vector eliminated.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005137"/>
            <a:ext cx="5489592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Port 111 (RPC): Open → Filtered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233737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Purged rpcbind service and listening sockets. Memory dump and internal RPC program mapping disabled.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929062"/>
            <a:ext cx="5489592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Port 22 (SSH): Root Auth → Whitelisted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4157662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Root password login revoked; enforced Ed25519 public key auth with UFW rule whitelisting only the analyst IP.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4852987"/>
            <a:ext cx="5489592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87" i="0" u="none">
                <a:solidFill>
                  <a:srgbClr val="F1F5F9"/>
                </a:solidFill>
                <a:latin typeface="Plus Jakarta Sans"/>
              </a:rPr>
              <a:t>Firewall: Disabled → Default 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5081587"/>
            <a:ext cx="522818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UFW default policy set to DROP. 65,533 ports converted to filtered non-responsive states, denying reconnaissance.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8833" y="1228725"/>
            <a:ext cx="4839592" cy="398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1869" y="2081212"/>
            <a:ext cx="855464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1869" y="3005137"/>
            <a:ext cx="855464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3559" y="3929062"/>
            <a:ext cx="663773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9712" y="4852987"/>
            <a:ext cx="727620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8650" y="485775"/>
            <a:ext cx="1148143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Hardening: Before vs. After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650" y="895350"/>
            <a:ext cx="47625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521743"/>
            <a:ext cx="5295900" cy="24526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414587"/>
            <a:ext cx="2562225" cy="117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325" y="2414587"/>
            <a:ext cx="2562225" cy="1171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3757612"/>
            <a:ext cx="2562225" cy="1323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2325" y="3757612"/>
            <a:ext cx="2562225" cy="1323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2725" y="2817018"/>
            <a:ext cx="494061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F1F5F9"/>
                </a:solidFill>
                <a:latin typeface="Plus Jakarta Sans"/>
              </a:rPr>
              <a:t>Quantified Defensive Gains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207543"/>
            <a:ext cx="47053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By shifting from an open default policy to a strict host-based stateful packet filter, the target system ceased responding to indiscriminate probes.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943350"/>
            <a:ext cx="47053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Active port enumeration overhead for an adversary increased from </a:t>
            </a:r>
            <a:r>
              <a:rPr b="1" sz="1087" i="0" u="none">
                <a:solidFill>
                  <a:srgbClr val="94A3B8"/>
                </a:solidFill>
                <a:latin typeface="Inter"/>
              </a:rPr>
              <a:t>0.24 seconds</a:t>
            </a:r>
            <a:r>
              <a:rPr b="0" sz="1087" i="0" u="none">
                <a:solidFill>
                  <a:srgbClr val="94A3B8"/>
                </a:solidFill>
                <a:latin typeface="Inter"/>
              </a:rPr>
              <a:t> to sustained scan timeouts, significantly raising the cost of reconnaissance.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633662"/>
            <a:ext cx="212407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b="0" sz="3750" i="0" u="none">
                <a:solidFill>
                  <a:srgbClr val="34D399"/>
                </a:solidFill>
                <a:latin typeface="Plus Jakarta Sans ExtraBold"/>
              </a:rPr>
              <a:t>66.7%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214687"/>
            <a:ext cx="2124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12" i="0" u="none">
                <a:solidFill>
                  <a:srgbClr val="94A3B8"/>
                </a:solidFill>
                <a:latin typeface="Inter Medium"/>
              </a:rPr>
              <a:t>Reduction in Exposed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400" y="2633662"/>
            <a:ext cx="212407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b="0" sz="3750" i="0" u="none">
                <a:solidFill>
                  <a:srgbClr val="34D399"/>
                </a:solidFill>
                <a:latin typeface="Plus Jakarta Sans ExtraBold"/>
              </a:rPr>
              <a:t>65,533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400" y="3214687"/>
            <a:ext cx="2124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12" i="0" u="none">
                <a:solidFill>
                  <a:srgbClr val="94A3B8"/>
                </a:solidFill>
                <a:latin typeface="Inter Medium"/>
              </a:rPr>
              <a:t>Ports Converted to Filtered 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976687"/>
            <a:ext cx="212407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b="0" sz="3750" i="0" u="none">
                <a:solidFill>
                  <a:srgbClr val="38BDF8"/>
                </a:solidFill>
                <a:latin typeface="Plus Jakarta Sans ExtraBold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557712"/>
            <a:ext cx="21240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12" i="0" u="none">
                <a:solidFill>
                  <a:srgbClr val="94A3B8"/>
                </a:solidFill>
                <a:latin typeface="Inter Medium"/>
              </a:rPr>
              <a:t>Cleartext Protocols Decommissioned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400" y="3976687"/>
            <a:ext cx="2124075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b="0" sz="3750" i="0" u="none">
                <a:solidFill>
                  <a:srgbClr val="38BDF8"/>
                </a:solidFill>
                <a:latin typeface="Plus Jakarta Sans ExtraBold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1400" y="4557712"/>
            <a:ext cx="2124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12" i="0" u="none">
                <a:solidFill>
                  <a:srgbClr val="94A3B8"/>
                </a:solidFill>
                <a:latin typeface="Inter Medium"/>
              </a:rPr>
              <a:t>Anonymous Logins Permitted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" y="485775"/>
            <a:ext cx="1148143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Attack Surface Reduction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650" y="895350"/>
            <a:ext cx="47625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57250" y="1683543"/>
            <a:ext cx="10477500" cy="719137"/>
          </a:xfrm>
          <a:prstGeom prst="roundRect">
            <a:avLst>
              <a:gd name="adj" fmla="val 13245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52550" y="1826418"/>
            <a:ext cx="9810750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F8FAFC"/>
                </a:solidFill>
                <a:latin typeface="Inter SemiBold"/>
              </a:rPr>
              <a:t>Enforce Universal Transport Encryption:</a:t>
            </a:r>
            <a:r>
              <a:rPr b="0" sz="1087" i="0" u="none">
                <a:solidFill>
                  <a:srgbClr val="94A3B8"/>
                </a:solidFill>
                <a:latin typeface="Inter"/>
              </a:rPr>
              <a:t> Mandate TLS 1.3 across all HTTP endpoints and substitute legacy cleartext transfer daemons (FTP, Telnet) exclusively with SFTP/SSH.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536031"/>
            <a:ext cx="10477500" cy="719137"/>
          </a:xfrm>
          <a:prstGeom prst="roundRect">
            <a:avLst>
              <a:gd name="adj" fmla="val 13245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2550" y="2678906"/>
            <a:ext cx="9810750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F8FAFC"/>
                </a:solidFill>
                <a:latin typeface="Inter SemiBold"/>
              </a:rPr>
              <a:t>Stateful Default-Deny Firewalling:</a:t>
            </a:r>
            <a:r>
              <a:rPr b="0" sz="1087" i="0" u="none">
                <a:solidFill>
                  <a:srgbClr val="94A3B8"/>
                </a:solidFill>
                <a:latin typeface="Inter"/>
              </a:rPr>
              <a:t> Standardize UFW/iptables baselines across all operating systems. Whitelist management ports (SSH/RDP) strictly to verified administrative subnets.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3388518"/>
            <a:ext cx="10477500" cy="719137"/>
          </a:xfrm>
          <a:prstGeom prst="roundRect">
            <a:avLst>
              <a:gd name="adj" fmla="val 13245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2550" y="3531393"/>
            <a:ext cx="9810750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F8FAFC"/>
                </a:solidFill>
                <a:latin typeface="Inter SemiBold"/>
              </a:rPr>
              <a:t>Zero-Password Administrative Access:</a:t>
            </a:r>
            <a:r>
              <a:rPr b="0" sz="1087" i="0" u="none">
                <a:solidFill>
                  <a:srgbClr val="94A3B8"/>
                </a:solidFill>
                <a:latin typeface="Inter"/>
              </a:rPr>
              <a:t> Revoke interactive root password login; implement Ed25519 hardware-backed key pairs and deploy Fail2ban for brute-force rate limiting.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250" y="4241006"/>
            <a:ext cx="10477500" cy="719137"/>
          </a:xfrm>
          <a:prstGeom prst="roundRect">
            <a:avLst>
              <a:gd name="adj" fmla="val 13245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2550" y="4383881"/>
            <a:ext cx="9810750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F8FAFC"/>
                </a:solidFill>
                <a:latin typeface="Inter SemiBold"/>
              </a:rPr>
              <a:t>Disable Legacy Broadcast Daemons:</a:t>
            </a:r>
            <a:r>
              <a:rPr b="0" sz="1087" i="0" u="none">
                <a:solidFill>
                  <a:srgbClr val="94A3B8"/>
                </a:solidFill>
                <a:latin typeface="Inter"/>
              </a:rPr>
              <a:t> Turn off LLMNR, NetBIOS over TCP/IP, and Avahi mDNS to eliminate lateral credential poisoning and Responder relay attacks.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5093493"/>
            <a:ext cx="10477500" cy="719137"/>
          </a:xfrm>
          <a:prstGeom prst="roundRect">
            <a:avLst>
              <a:gd name="adj" fmla="val 13245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2550" y="5236368"/>
            <a:ext cx="9810750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F8FAFC"/>
                </a:solidFill>
                <a:latin typeface="Inter SemiBold"/>
              </a:rPr>
              <a:t>Continuous Telemetry &amp; IDS Monitoring:</a:t>
            </a:r>
            <a:r>
              <a:rPr b="0" sz="1087" i="0" u="none">
                <a:solidFill>
                  <a:srgbClr val="94A3B8"/>
                </a:solidFill>
                <a:latin typeface="Inter"/>
              </a:rPr>
              <a:t> Deploy automated network sensors (Suricata/Zeek) with rulesets designed to flag SYN half-open bursts and DNS tunneling.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2393156"/>
            <a:ext cx="10477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7250" y="3245643"/>
            <a:ext cx="10477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4098131"/>
            <a:ext cx="10477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4950618"/>
            <a:ext cx="10477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7250" y="5803106"/>
            <a:ext cx="10477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1864518"/>
            <a:ext cx="142875" cy="161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2717006"/>
            <a:ext cx="161925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3569493"/>
            <a:ext cx="16192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5" y="4421981"/>
            <a:ext cx="200025" cy="1619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" y="5274468"/>
            <a:ext cx="161925" cy="1619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8650" y="485775"/>
            <a:ext cx="1148143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Strategic Recommendations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650" y="895350"/>
            <a:ext cx="47625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530" y="4343400"/>
            <a:ext cx="6560790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95409" y="2171700"/>
            <a:ext cx="7001031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900" i="0" u="none">
                <a:solidFill>
                  <a:srgbClr val="FFFFFF"/>
                </a:solidFill>
                <a:latin typeface="Plus Jakarta Sans ExtraBold"/>
              </a:rPr>
              <a:t>Assessment Sign-off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375" y="2933700"/>
            <a:ext cx="61912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Practical assessment completed in full compliance with legal and ethical lab guidelines. All technical artifacts, scripts, and PCAP captures cataloged.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262" y="3705225"/>
            <a:ext cx="1781175" cy="371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837" y="3705225"/>
            <a:ext cx="2466975" cy="3714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212" y="3705225"/>
            <a:ext cx="1914525" cy="3714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3237" y="3829050"/>
            <a:ext cx="123825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6812" y="3829050"/>
            <a:ext cx="123825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6187" y="3829050"/>
            <a:ext cx="10477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43075" y="1824037"/>
            <a:ext cx="87058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3075" y="2595562"/>
            <a:ext cx="87058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43075" y="3367087"/>
            <a:ext cx="87058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3075" y="4138612"/>
            <a:ext cx="87058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43075" y="2586037"/>
            <a:ext cx="87058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43075" y="2586037"/>
            <a:ext cx="87058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43075" y="3357562"/>
            <a:ext cx="87058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43075" y="3357562"/>
            <a:ext cx="87058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43075" y="4129087"/>
            <a:ext cx="87058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43075" y="4129087"/>
            <a:ext cx="87058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43075" y="4900612"/>
            <a:ext cx="87058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43075" y="4900612"/>
            <a:ext cx="87058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075" y="1966912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838450" y="1974056"/>
            <a:ext cx="7610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https://miro.medium.com/1*CCsLTPf1mIlRuGhVMbBXvQ.png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8450" y="2207418"/>
            <a:ext cx="76104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medium.com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075" y="2738437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38450" y="2745581"/>
            <a:ext cx="7610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https://linuxblog.io/wp-content/uploads/2026/05/nmap-scan-terminal.jpg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8450" y="2978943"/>
            <a:ext cx="76104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linuxblog.io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3075" y="3509962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838450" y="3517106"/>
            <a:ext cx="7610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https://www.tecmint.com/wp-content/uploads/2012/08/Wireshark-Analyze-Network-Traffic-in-Linux.png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8450" y="3750468"/>
            <a:ext cx="76104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www.tecmint.com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3075" y="4281487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838450" y="4288631"/>
            <a:ext cx="7610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https://osqa-ask.wireshark.org/upfiles/tcp_40bytes.PNG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8450" y="4521993"/>
            <a:ext cx="76104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osqa-ask.wireshark.org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3075" y="5053012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838450" y="5060156"/>
            <a:ext cx="76104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https://aisecuritywatch.com/wp-content/uploads/2026/09/linux-ufw-firewall-wireguard-hardening-architecture-1024x576.webp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8450" y="5293518"/>
            <a:ext cx="76104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aisecuritywatch.com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" y="485775"/>
            <a:ext cx="1148143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" y="895350"/>
            <a:ext cx="47625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